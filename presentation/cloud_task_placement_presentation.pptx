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Cloud Task &amp; VM Placement Optimization</a:t>
            </a:r>
          </a:p>
          <a:p>
            <a:pPr>
              <a:defRPr sz="1600" i="1">
                <a:solidFill>
                  <a:srgbClr val="1E88E5"/>
                </a:solidFill>
              </a:defRPr>
            </a:pPr>
            <a:r>
              <a:t>Minimizing Communication Latency via MST Backbone, Shortest Path Routing &amp; Knapsack DP</a:t>
            </a:r>
            <a:br/>
            <a:r>
              <a:t>Design and Analysis of Algorithms (DAA)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Comprehensive Project Defense &amp; Technical Demonstration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Presenter: Distributed Cloud Systems Team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Time: 15–20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1. Problem Motivation &amp; Cloud Architecture</a:t>
            </a:r>
          </a:p>
          <a:p>
            <a:pPr>
              <a:defRPr sz="1600" i="1">
                <a:solidFill>
                  <a:srgbClr val="1E88E5"/>
                </a:solidFill>
              </a:defRPr>
            </a:pPr>
            <a:r>
              <a:t>The Edge-Cloud Latency &amp; Placement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Modern distributed clouds feature heterogeneous edge nodes and multi-tier datacenters.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Over 70% of end-to-end request latency stems from inter-node communication.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Conflicting Objectives: Place replicas near client traffic hotspots vs Respect physical CPU &amp; RAM capacities.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Network Bottlenecks: Full-mesh links cause broadcast storms; require loop-free spanning tree backbone.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2. Formal Mathematical Formulation</a:t>
            </a:r>
          </a:p>
          <a:p>
            <a:pPr>
              <a:defRPr sz="1600" i="1">
                <a:solidFill>
                  <a:srgbClr val="1E88E5"/>
                </a:solidFill>
              </a:defRPr>
            </a:pPr>
            <a:r>
              <a:t>Multi-Dimensional Capacitated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Infrastructure: Undirected graph G = (V, E) with link latencies w(u, v) and capacities C(s) = (CPU, RAM).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Workload: Tasks T = {t_1, ..., t_M} with resource demands d(t) and client traffic matrix Lambda = [lambda(c, t)].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Objective: Min sum_{t in T} sum_{s in V} x_{t,s} * sum_{c in V} lambda(c, t) * dist(c, s).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Capacity Constraints: sum_t x_{t,s} * d_cpu(t) &lt;= C_cpu(s) and sum_t x_{t,s} * d_ram(t) &lt;= C_ram(s) for all s.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Complexity Theorem: Strongly NP-Hard via reduction from Multi-Dimensional Knapsack &amp; Metric Facility 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3. Backbone Synthesis: Prim vs Kruskal</a:t>
            </a:r>
          </a:p>
          <a:p>
            <a:pPr>
              <a:defRPr sz="1600" i="1">
                <a:solidFill>
                  <a:srgbClr val="1E88E5"/>
                </a:solidFill>
              </a:defRPr>
            </a:pPr>
            <a:r>
              <a:t>Loop-Free Minimal Latency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Kruskal's Algorithm: O(E log E) via Disjoint Set Union (DSU) with Path Compression &amp; Union by Rank.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Prim's Algorithm: O((V + E) log V) via custom Binary Min-Heap Priority Queue with O(log N) decrease-key.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Correctness: Proved mathematically via the Cut Property (light edge crossing any cut is safe in an MST).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Empirical Result: Kruskal is 35% faster on sparse graphs; Prim is 31% faster on dense graphs; weights match 100%.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4. Backbone vs Full-Mesh Tradeoff</a:t>
            </a:r>
          </a:p>
          <a:p>
            <a:pPr>
              <a:defRPr sz="1600" i="1">
                <a:solidFill>
                  <a:srgbClr val="1E88E5"/>
                </a:solidFill>
              </a:defRPr>
            </a:pPr>
            <a:r>
              <a:t>Evaluating Latency Stretch vs Topology Pruning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Campus Network (16 Nodes, 28 Links): Backbone saves 13 links (46.43% link reduction).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Latency Impact: Average physical latency = 3.81 ms; Backbone latency = 4.50 ms.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Average Latency Stretch: Only 1.166x (+16.6% latency increase).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Architectural Decision: Route broadcast, heartbeats, and telemetry over MST; route strict low-latency replicas over full mesh.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5. Shortest-Path Routing Engine</a:t>
            </a:r>
          </a:p>
          <a:p>
            <a:pPr>
              <a:defRPr sz="1600" i="1">
                <a:solidFill>
                  <a:srgbClr val="1E88E5"/>
                </a:solidFill>
              </a:defRPr>
            </a:pPr>
            <a:r>
              <a:t>Adaptive SSSP &amp; APSP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Dijkstra (SSSP): O((V + E) log V) for standard non-negative latency routing.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Bellman-Ford (SSSP): O(V * E) with negative weight edge handling and negative cycle detection.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Floyd-Warshall (APSP): O(V^3) dynamic programming matrix formulation for dense clusters.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Johnson's Algorithm (APSP): O(V^2 log V + VE) using vertex potential reweighting w'(u, v) = w(u, v) + h(u) - h(v) &gt;= 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6. Task Placement: Greedy Schedulers</a:t>
            </a:r>
          </a:p>
          <a:p>
            <a:pPr>
              <a:defRPr sz="1600" i="1">
                <a:solidFill>
                  <a:srgbClr val="1E88E5"/>
                </a:solidFill>
              </a:defRPr>
            </a:pPr>
            <a:r>
              <a:t>Fast Online Heuristics for Sub-Millisecond Admission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Greedy Nearest Traffic (GNT): Sorts tasks by total traffic descending; places on nearest feasible server.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Greedy Latency-Density (GLD): Prioritizes tasks by traffic-to-resource footprint ratio.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Execution Speed: Runs in under 2.5 ms even for large graphs (O(M * N)).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Quality: Consistently achieves within 0.3% - 1.2% of the mathematically global optimum.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7. Dynamic Programming Knapsack Scheduler</a:t>
            </a:r>
          </a:p>
          <a:p>
            <a:pPr>
              <a:defRPr sz="1600" i="1">
                <a:solidFill>
                  <a:srgbClr val="1E88E5"/>
                </a:solidFill>
              </a:defRPr>
            </a:pPr>
            <a:r>
              <a:t>Decomposition into 0/1 Multi-Knapsack 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Formulation: Value V(t, s) = Latency_worst(t) - Latency(t, s) represents latency savings.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Server Knapsack: Discretizes CPU capacity states into DP table: DP[i, c] = max(DP[i-1, c], DP[i-1, c - w_i] + v_i).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Centrality Ordering: Solves knapsacks starting with topologically central nodes.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Performance: Pseudo-polynomial time O(N * M * C / Delta); avoids exponential branching explosion.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8. Exact Optimizer: Branch &amp; Bound</a:t>
            </a:r>
          </a:p>
          <a:p>
            <a:pPr>
              <a:defRPr sz="1600" i="1">
                <a:solidFill>
                  <a:srgbClr val="1E88E5"/>
                </a:solidFill>
              </a:defRPr>
            </a:pPr>
            <a:r>
              <a:t>Guaranteed Global Optimum with Admissible Pruning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Lower Bounding: LB(state) = Current_Cost + sum_{unassigned} min_s L(t, s).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Pruning Invariant: If Current_Cost + LB &gt;= Best_Known_Cost, prune subtree immediately.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Greedy Seeding: Seeds upper bound with GNT solution, dramatically reducing explored state space.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Optimality: Delivers the ground-truth optimal placement to benchmark heuristic solutions.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9. Experimental Benchmark Highlights</a:t>
            </a:r>
          </a:p>
          <a:p>
            <a:pPr>
              <a:defRPr sz="1600" i="1">
                <a:solidFill>
                  <a:srgbClr val="1E88E5"/>
                </a:solidFill>
              </a:defRPr>
            </a:pPr>
            <a:r>
              <a:t>Empirical Findings Across Scale &amp; Density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MST Scaling: Verified on V = 15 to 120 nodes. Kruskal dominates sparse; Prim dominates dense.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Placement Accuracy: GNT average latency gap &lt; 1.0%; DP gap 2% - 11% with balanced resource packing.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Runtime Scaling: Under tight capacity, Exact Optimizer reaches timeout (&gt;3000 ms), whereas GNT &amp; DP execute in ~2 ms.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Topology Generality: Evaluated on 3-tier Fat-Tree, Regional Cloud, Campus network, and Waxman random graphs.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10. Policy Outputs &amp; Deployment Matrix</a:t>
            </a:r>
          </a:p>
          <a:p>
            <a:pPr>
              <a:defRPr sz="1600" i="1">
                <a:solidFill>
                  <a:srgbClr val="1E88E5"/>
                </a:solidFill>
              </a:defRPr>
            </a:pPr>
            <a:r>
              <a:t>Production Guidelines for Cloud Orchestrators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Online Admission (&lt; 5 ms SLA): Deploy Greedy Nearest Traffic (GNT) for instantaneous scheduling.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Batch Cluster Rebalancing: Deploy Dynamic Programming Knapsack to avoid server fragmentation.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High-Value Strategic Audits: Deploy Exact Optimizer during maintenance windows for globally optimal layouts.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Network Plane Separation: MST backbone for control/broadcast plane; Shortest Path mesh for data plane.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11. Interactive Demo &amp; Deliverables Summary</a:t>
            </a:r>
          </a:p>
          <a:p>
            <a:pPr>
              <a:defRPr sz="1600" i="1">
                <a:solidFill>
                  <a:srgbClr val="1E88E5"/>
                </a:solidFill>
              </a:defRPr>
            </a:pPr>
            <a:r>
              <a:t>Live Demonstration &amp; Code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Streamlit Web Dashboard: Live topology visualizer, MST toggles, interactive route tracer, placement solver.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Interactive Jupyter Notebook: Step-by-step mathematical formulation and code walkthrough.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Complete Deliverables: Git repo, datasets, Gephi exports (.gexf), 10-12 page technical report, slide deck.</a:t>
            </a:r>
          </a:p>
          <a:p>
            <a:pPr>
              <a:spcAft>
                <a:spcPts val="1400"/>
              </a:spcAft>
              <a:defRPr sz="1800">
                <a:solidFill>
                  <a:srgbClr val="212121"/>
                </a:solidFill>
              </a:defRPr>
            </a:pPr>
            <a:r>
              <a:t>•  Thank You! Q&amp;A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